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038ec82-5be9-2d1f-6a9a-b7a30d73186a}">
          <p14:sldIdLst>
            <p14:sldId id="256"/>
            <p14:sldId id="257"/>
          </p14:sldIdLst>
        </p14:section>
        <p14:section name="01 Project Plan" id="{114c8b3a-48f2-c899-fb6b-590adf9b61ef}">
          <p14:sldIdLst>
            <p14:sldId id="258"/>
            <p14:sldId id="259"/>
            <p14:sldId id="260"/>
            <p14:sldId id="261"/>
          </p14:sldIdLst>
        </p14:section>
        <p14:section name="02 Contract and Agreement" id="{c51d6f98-0103-b7ef-0472-66bd68eef447}">
          <p14:sldIdLst>
            <p14:sldId id="262"/>
            <p14:sldId id="263"/>
            <p14:sldId id="264"/>
          </p14:sldIdLst>
        </p14:section>
        <p14:section name="03 Use Case Modeling" id="{96f64d84-0ffa-bf19-c877-b0a6f1cd9bc2}">
          <p14:sldIdLst>
            <p14:sldId id="265"/>
            <p14:sldId id="266"/>
            <p14:sldId id="267"/>
            <p14:sldId id="268"/>
          </p14:sldIdLst>
        </p14:section>
        <p14:section name="04 Business Process Model" id="{aecc6318-d683-4169-961b-18761b9009e0}">
          <p14:sldIdLst>
            <p14:sldId id="269"/>
            <p14:sldId id="270"/>
          </p14:sldIdLst>
        </p14:section>
        <p14:section name="05 Work Breakdown Structure" id="{ef2d2ff0-7524-a9f7-0279-5d89f8c307a3}">
          <p14:sldIdLst>
            <p14:sldId id="271"/>
          </p14:sldIdLst>
        </p14:section>
        <p14:section name="06 Gantt and Schedule" id="{14c36402-dd65-73fb-9bf2-d0342c911722}">
          <p14:sldIdLst>
            <p14:sldId id="272"/>
            <p14:sldId id="273"/>
            <p14:sldId id="274"/>
          </p14:sldIdLst>
        </p14:section>
        <p14:section name="Closing" id="{77215d68-2762-6652-eedc-b53db8cadd31}">
          <p14:sldIdLst>
            <p14:sldId id="275"/>
          </p14:sldIdLst>
        </p14:section>
        <p14:section name="Appendix" id="{b002c471-b068-0912-ddb9-a438396715a8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idea in one sentence: a digital safe where a couple locks honest letters away for a set time, then decides together whether to open them. Mention that this presentation covers the six required deliverables.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required deliverables in order. Each one is a section of this presentation and of the final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Background: breakups often produce angry texts that destroy any chance of reconciling. Some couples think maybe they just need time apart. Our app gives them a safe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steps: write, lock, wait, decide. Emphasise that nobody can open the letters early, and that the letters do not open automatically when the timer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 on the left. On the right, what is in scope and what we deliberately leave out so the project stays achievable in 12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audience is couples going through a break or breakup. The stakeholder table shows who else cares about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we agree to build. The three rules at the bottom are non-negotiable and shape every model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roles cover the whole lifecycle. Everyone reviews and tests, so roles can be shared. Names are assigned to roles in the team 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working rules the team commits to. The GitHub repository is the single source of truth for every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Partner starts every action. The System Scheduler runs three automatic use cases: lock, notify, and delete. Create Time Capsule includes Write Letter and Set Unlock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main flow top to bottom. Point out the warning before sealing, and that after step 5 the unlock date can no longer be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project. Stress that both partners must choose Unlock. Any decline or silence leads to deletion.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use cases run without any user action. They are what makes the lock real: encrypt and seal, notify at the right time, and delete when the rule says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model left to right. After login, a parallel gateway lets both partners write at the same time. When both letters exist they agree a date, the system creates the capsule record and locks the letters through the Encryption Service. The scheduler then waits for the unlock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timer ends the scheduler notifies both partners. Each responds to the unlock request. An exclusive gateway then checks the answers: both yes reveals the letters; any no, or no reply, deletes them permanently.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breaks into five phases and 18 work packages. The same packages appear as bars in the Gantt chart, so the WBS and the schedule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 starts Monday 5 October 2026 and ends Friday 25 December 2026. Colors match the five WBS phases. Diamonds are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milestone closes a phase. The critical path runs through requirements, design, development, testing, and deployment. Any delay in development moves the final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high-impact risks are about trust: the lock must be real, and the letters must stay private. The medium risks are about people and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all six deliverables are complete and in our GitHub repository.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in case of questions about storage. Letter content is stored encrypted, and UnlockResponse records each partner's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3152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Time Capsule Letter App  ·  Capstone 2: IT Project Management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ring outer"/>
          <p:cNvSpPr/>
          <p:nvPr/>
        </p:nvSpPr>
        <p:spPr>
          <a:xfrm>
            <a:off x="7909560" y="1097280"/>
            <a:ext cx="4206240" cy="4206240"/>
          </a:xfrm>
          <a:prstGeom prst="ellipse">
            <a:avLst/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" name="Decor ring middle"/>
          <p:cNvSpPr/>
          <p:nvPr/>
        </p:nvSpPr>
        <p:spPr>
          <a:xfrm>
            <a:off x="8458200" y="1645920"/>
            <a:ext cx="3108960" cy="310896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Decor circle"/>
          <p:cNvSpPr/>
          <p:nvPr/>
        </p:nvSpPr>
        <p:spPr>
          <a:xfrm>
            <a:off x="9098280" y="228600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adlock" descr="Padlo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743200"/>
            <a:ext cx="914400" cy="914400"/>
          </a:xfrm>
          <a:prstGeom prst="rect">
            <a:avLst/>
          </a:prstGeom>
        </p:spPr>
      </p:pic>
      <p:sp>
        <p:nvSpPr>
          <p:cNvPr id="6" name="Section chip"/>
          <p:cNvSpPr txBox="1"/>
          <p:nvPr/>
        </p:nvSpPr>
        <p:spPr>
          <a:xfrm>
            <a:off x="731520" y="1417320"/>
            <a:ext cx="4058107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CAPSTONE 2  ·  IT PROJECT MANAGEMENT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Time Capsule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Letter App</a:t>
            </a:r>
            <a:endParaRPr lang="en-US" sz="54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731520" y="4114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Write it. Lock it. Decide together a year later.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578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Midterm Team Project  ·  Prof. S S.Kim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October 22, 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Presented by: [team member names]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1095451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AGENDA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Six deliverables, one project</a:t>
            </a:r>
            <a:endParaRPr lang="en-US" sz="3200" dirty="0"/>
          </a:p>
        </p:txBody>
      </p:sp>
      <p:sp>
        <p:nvSpPr>
          <p:cNvPr id="5" name="Agenda card 1"/>
          <p:cNvSpPr/>
          <p:nvPr/>
        </p:nvSpPr>
        <p:spPr>
          <a:xfrm>
            <a:off x="548640" y="16002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 FaClipboardList" descr="ClipboardLis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04597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1  Project Plan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081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Background, objectives, scope, audience</a:t>
            </a:r>
            <a:endParaRPr lang="en-US" sz="1400" dirty="0"/>
          </a:p>
        </p:txBody>
      </p:sp>
      <p:sp>
        <p:nvSpPr>
          <p:cNvPr id="10" name="Agenda card 2"/>
          <p:cNvSpPr/>
          <p:nvPr/>
        </p:nvSpPr>
        <p:spPr>
          <a:xfrm>
            <a:off x="4334256" y="16002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08576" y="18745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 FaFileSignature" descr="FileSignatur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026" y="204597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08576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2  Contract / Agreement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608576" y="3081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Specifications, team roles, guidelines</a:t>
            </a:r>
            <a:endParaRPr lang="en-US" sz="1400" dirty="0"/>
          </a:p>
        </p:txBody>
      </p:sp>
      <p:sp>
        <p:nvSpPr>
          <p:cNvPr id="15" name="Agenda card 3"/>
          <p:cNvSpPr/>
          <p:nvPr/>
        </p:nvSpPr>
        <p:spPr>
          <a:xfrm>
            <a:off x="8119872" y="16002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394192" y="18745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 FaUserFriends" descr="UserFriend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642" y="204597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94192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3  Use Case Modeling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394192" y="3081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Diagram and detailed specifications</a:t>
            </a:r>
            <a:endParaRPr lang="en-US" sz="1400" dirty="0"/>
          </a:p>
        </p:txBody>
      </p:sp>
      <p:sp>
        <p:nvSpPr>
          <p:cNvPr id="20" name="Agenda card 4"/>
          <p:cNvSpPr/>
          <p:nvPr/>
        </p:nvSpPr>
        <p:spPr>
          <a:xfrm>
            <a:off x="548640" y="39776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1" name="Icon circle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 FaProjectDiagram" descr="ProjectDiagram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42341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22960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4  Business Process Model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54589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Workflow across partners and system</a:t>
            </a:r>
            <a:endParaRPr lang="en-US" sz="1400" dirty="0"/>
          </a:p>
        </p:txBody>
      </p:sp>
      <p:sp>
        <p:nvSpPr>
          <p:cNvPr id="25" name="Agenda card 5"/>
          <p:cNvSpPr/>
          <p:nvPr/>
        </p:nvSpPr>
        <p:spPr>
          <a:xfrm>
            <a:off x="4334256" y="39776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6" name="Icon circle"/>
          <p:cNvSpPr/>
          <p:nvPr/>
        </p:nvSpPr>
        <p:spPr>
          <a:xfrm>
            <a:off x="4608576" y="425196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Icon FaSitemap" descr="Sitemap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26" y="4423410"/>
            <a:ext cx="342900" cy="3429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608576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5  Work Breakdown Structure</a:t>
            </a:r>
            <a:endParaRPr lang="en-US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4608576" y="54589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Tasks split into work packages</a:t>
            </a:r>
            <a:endParaRPr lang="en-US" sz="1400" dirty="0"/>
          </a:p>
        </p:txBody>
      </p:sp>
      <p:sp>
        <p:nvSpPr>
          <p:cNvPr id="30" name="Agenda card 6"/>
          <p:cNvSpPr/>
          <p:nvPr/>
        </p:nvSpPr>
        <p:spPr>
          <a:xfrm>
            <a:off x="8119872" y="39776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1" name="Icon circle"/>
          <p:cNvSpPr/>
          <p:nvPr/>
        </p:nvSpPr>
        <p:spPr>
          <a:xfrm>
            <a:off x="8394192" y="42519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2" name="Icon FaCalendarAlt" descr="CalendarAl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5642" y="4423410"/>
            <a:ext cx="342900" cy="3429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394192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6  Gantt Chart</a:t>
            </a:r>
            <a:endParaRPr lang="en-US" sz="1900" dirty="0"/>
          </a:p>
        </p:txBody>
      </p:sp>
      <p:sp>
        <p:nvSpPr>
          <p:cNvPr id="34" name="Text 25"/>
          <p:cNvSpPr txBox="1"/>
          <p:nvPr/>
        </p:nvSpPr>
        <p:spPr>
          <a:xfrm>
            <a:off x="8394192" y="54589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Schedule, milestones, dependencies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2083003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01  PROJECT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people need a pause button</a:t>
            </a:r>
            <a:endParaRPr lang="en-US" sz="3200" dirty="0"/>
          </a:p>
        </p:txBody>
      </p:sp>
      <p:sp>
        <p:nvSpPr>
          <p:cNvPr id="5" name="Quote card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pic>
        <p:nvPicPr>
          <p:cNvPr id="6" name="Broken heart" descr="Broken hear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74320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 the heat of a breakup, one angry text can end any chance of getting back together.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48920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Some couples think: “maybe we just need time apart.”</a:t>
            </a:r>
            <a:endParaRPr lang="en-US" sz="1700" dirty="0"/>
          </a:p>
        </p:txBody>
      </p:sp>
      <p:sp>
        <p:nvSpPr>
          <p:cNvPr id="9" name="Why card 1"/>
          <p:cNvSpPr/>
          <p:nvPr/>
        </p:nvSpPr>
        <p:spPr>
          <a:xfrm>
            <a:off x="5989320" y="1600200"/>
            <a:ext cx="565099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6263640" y="196596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con FaComments" descr="Comment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4884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694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The problem</a:t>
            </a: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7269480" y="22585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Hurt people send angry, emotional messages in the moment.</a:t>
            </a:r>
            <a:endParaRPr lang="en-US" sz="1500" dirty="0"/>
          </a:p>
        </p:txBody>
      </p:sp>
      <p:sp>
        <p:nvSpPr>
          <p:cNvPr id="14" name="Why card 2"/>
          <p:cNvSpPr/>
          <p:nvPr/>
        </p:nvSpPr>
        <p:spPr>
          <a:xfrm>
            <a:off x="5989320" y="3154680"/>
            <a:ext cx="565099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263640" y="35204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 FaExclamationTriangle" descr="ExclamationTriang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70332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6948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The damage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7269480" y="38130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Those messages ruin the chance of reconciling later.</a:t>
            </a:r>
            <a:endParaRPr lang="en-US" sz="1500" dirty="0"/>
          </a:p>
        </p:txBody>
      </p:sp>
      <p:sp>
        <p:nvSpPr>
          <p:cNvPr id="19" name="Why card 3"/>
          <p:cNvSpPr/>
          <p:nvPr/>
        </p:nvSpPr>
        <p:spPr>
          <a:xfrm>
            <a:off x="5989320" y="4709160"/>
            <a:ext cx="565099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6263640" y="50749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con FaKey" descr="Key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2578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6948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The gap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7269480" y="53675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There is no safe place to say what is true, then wait.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2083003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01  PROJECT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digital safe for honest letters</a:t>
            </a:r>
            <a:endParaRPr lang="en-US" sz="3200" dirty="0"/>
          </a:p>
        </p:txBody>
      </p:sp>
      <p:sp>
        <p:nvSpPr>
          <p:cNvPr id="5" name="Step card 1"/>
          <p:cNvSpPr/>
          <p:nvPr/>
        </p:nvSpPr>
        <p:spPr>
          <a:xfrm>
            <a:off x="548640" y="1600200"/>
            <a:ext cx="2560320" cy="37490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22960" y="18745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 FaPenFancy" descr="PenFanc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031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Write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84048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Both partners log in together. Each writes one final, honest letter.</a:t>
            </a:r>
            <a:endParaRPr lang="en-US" sz="1450" dirty="0"/>
          </a:p>
        </p:txBody>
      </p:sp>
      <p:sp>
        <p:nvSpPr>
          <p:cNvPr id="11" name="Step card 2"/>
          <p:cNvSpPr/>
          <p:nvPr/>
        </p:nvSpPr>
        <p:spPr>
          <a:xfrm>
            <a:off x="3392424" y="1600200"/>
            <a:ext cx="2560320" cy="37490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3666744" y="187452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con FaLock" descr="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44" y="21031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66744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2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666744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Lock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3666744" y="384048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They set a timer, for example 365 days. The app seals the letters. No early opening.</a:t>
            </a:r>
            <a:endParaRPr lang="en-US" sz="1450" dirty="0"/>
          </a:p>
        </p:txBody>
      </p:sp>
      <p:sp>
        <p:nvSpPr>
          <p:cNvPr id="17" name="Step card 3"/>
          <p:cNvSpPr/>
          <p:nvPr/>
        </p:nvSpPr>
        <p:spPr>
          <a:xfrm>
            <a:off x="6236208" y="1600200"/>
            <a:ext cx="2560320" cy="37490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8" name="Icon circle"/>
          <p:cNvSpPr/>
          <p:nvPr/>
        </p:nvSpPr>
        <p:spPr>
          <a:xfrm>
            <a:off x="6510528" y="187452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con FaHourglassHalf" descr="HourglassHalf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1031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510528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3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510528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Wait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6510528" y="384048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The timer runs. When it ends, the letters do not open on their own.</a:t>
            </a:r>
            <a:endParaRPr lang="en-US" sz="1450" dirty="0"/>
          </a:p>
        </p:txBody>
      </p:sp>
      <p:sp>
        <p:nvSpPr>
          <p:cNvPr id="23" name="Step card 4"/>
          <p:cNvSpPr/>
          <p:nvPr/>
        </p:nvSpPr>
        <p:spPr>
          <a:xfrm>
            <a:off x="9079992" y="1600200"/>
            <a:ext cx="2560320" cy="37490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24" name="Icon circle"/>
          <p:cNvSpPr/>
          <p:nvPr/>
        </p:nvSpPr>
        <p:spPr>
          <a:xfrm>
            <a:off x="9354312" y="187452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con FaHandshake" descr="Handshak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210312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354312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9354312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Decide</a:t>
            </a:r>
            <a:endParaRPr lang="en-US" sz="2400" dirty="0"/>
          </a:p>
        </p:txBody>
      </p:sp>
      <p:sp>
        <p:nvSpPr>
          <p:cNvPr id="28" name="Text 21"/>
          <p:cNvSpPr txBox="1"/>
          <p:nvPr/>
        </p:nvSpPr>
        <p:spPr>
          <a:xfrm>
            <a:off x="9354312" y="384048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Both click Unlock: they read the letters. Either says no or stays silent: deleted.</a:t>
            </a:r>
            <a:endParaRPr lang="en-US" sz="1450" dirty="0"/>
          </a:p>
        </p:txBody>
      </p:sp>
      <p:sp>
        <p:nvSpPr>
          <p:cNvPr id="29" name="Rule banner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The rule that protects both people: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if only one partner wants to open the letters, they are deleted forever.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2083003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01  PROJECT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Objectives and scope</a:t>
            </a:r>
            <a:endParaRPr lang="en-US" sz="3200" dirty="0"/>
          </a:p>
        </p:txBody>
      </p:sp>
      <p:sp>
        <p:nvSpPr>
          <p:cNvPr id="5" name="Objectives card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7" name="Number circle 1"/>
          <p:cNvSpPr/>
          <p:nvPr/>
        </p:nvSpPr>
        <p:spPr>
          <a:xfrm>
            <a:off x="868680" y="245059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37744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a web app where a couple writes, seals, and later decides whether to reveal letters</a:t>
            </a:r>
            <a:endParaRPr lang="en-US" sz="1500" dirty="0"/>
          </a:p>
        </p:txBody>
      </p:sp>
      <p:sp>
        <p:nvSpPr>
          <p:cNvPr id="10" name="Number circle 2"/>
          <p:cNvSpPr/>
          <p:nvPr/>
        </p:nvSpPr>
        <p:spPr>
          <a:xfrm>
            <a:off x="868680" y="33832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331012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Enforce the lock on the server: no early opening, no admin override</a:t>
            </a:r>
            <a:endParaRPr lang="en-US" sz="1500" dirty="0"/>
          </a:p>
        </p:txBody>
      </p:sp>
      <p:sp>
        <p:nvSpPr>
          <p:cNvPr id="13" name="Number circle 3"/>
          <p:cNvSpPr/>
          <p:nvPr/>
        </p:nvSpPr>
        <p:spPr>
          <a:xfrm>
            <a:off x="868680" y="431596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4242816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Apply the both-must-agree rule: any No or no reply means permanent deletion</a:t>
            </a:r>
            <a:endParaRPr lang="en-US" sz="1500" dirty="0"/>
          </a:p>
        </p:txBody>
      </p:sp>
      <p:sp>
        <p:nvSpPr>
          <p:cNvPr id="16" name="Number circle 4"/>
          <p:cNvSpPr/>
          <p:nvPr/>
        </p:nvSpPr>
        <p:spPr>
          <a:xfrm>
            <a:off x="868680" y="524865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8680" y="5248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5175504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 and deliver the project in 12 weeks with five milestones</a:t>
            </a:r>
            <a:endParaRPr lang="en-US" sz="1500" dirty="0"/>
          </a:p>
        </p:txBody>
      </p:sp>
      <p:sp>
        <p:nvSpPr>
          <p:cNvPr id="19" name="In scope card"/>
          <p:cNvSpPr/>
          <p:nvPr/>
        </p:nvSpPr>
        <p:spPr>
          <a:xfrm>
            <a:off x="6245352" y="1600200"/>
            <a:ext cx="539496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6492240" y="181051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 FaCheck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0" y="1936242"/>
            <a:ext cx="251460" cy="2514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132320" y="1810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 scope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6492240" y="24688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Accounts and couple linking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Private letter writing, encrypted storage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Unlock-date timer and notifications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Mutual unlock or delete decision</a:t>
            </a:r>
            <a:endParaRPr lang="en-US" sz="1500" dirty="0"/>
          </a:p>
        </p:txBody>
      </p:sp>
      <p:sp>
        <p:nvSpPr>
          <p:cNvPr id="24" name="Out of scope card"/>
          <p:cNvSpPr/>
          <p:nvPr/>
        </p:nvSpPr>
        <p:spPr>
          <a:xfrm>
            <a:off x="6245352" y="443484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5" name="Icon circle"/>
          <p:cNvSpPr/>
          <p:nvPr/>
        </p:nvSpPr>
        <p:spPr>
          <a:xfrm>
            <a:off x="6492240" y="46177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Icon FaExclamationTriangle" descr="ExclamationTriang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4743450"/>
            <a:ext cx="251460" cy="25146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132320" y="4617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Out of scope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6492240" y="5303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Chat between partners, counselling or matchmaking, native mobile apps, payments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2083003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01  PROJECT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Who it is for</a:t>
            </a:r>
            <a:endParaRPr lang="en-US" sz="3200" dirty="0"/>
          </a:p>
        </p:txBody>
      </p:sp>
      <p:sp>
        <p:nvSpPr>
          <p:cNvPr id="5" name="Audience card"/>
          <p:cNvSpPr/>
          <p:nvPr/>
        </p:nvSpPr>
        <p:spPr>
          <a:xfrm>
            <a:off x="548640" y="1600200"/>
            <a:ext cx="4480560" cy="457200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9202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FaUsers" descr="Us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488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Target audience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35204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Couples who think “maybe we just need time apart”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5166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Both partners use the app together, each from their own account.</a:t>
            </a:r>
            <a:endParaRPr lang="en-US" sz="1500" dirty="0"/>
          </a:p>
        </p:txBody>
      </p:sp>
      <p:graphicFrame>
        <p:nvGraphicFramePr>
          <p:cNvPr id="7" name="Stakehold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600200"/>
          <a:ext cx="62910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0050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Stakeholder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they need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</a:rPr>
                        <a:t>Couples (users)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</a:rPr>
                        <a:t>A safe, private and trustworthy pause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</a:rPr>
                        <a:t>Project team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</a:rPr>
                        <a:t>A clear plan, delivered on time and on scope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</a:rPr>
                        <a:t>Instructor, Prof. S S.Kim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</a:rPr>
                        <a:t>Complete, well-modeled deliverables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</a:rPr>
                        <a:t>External services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</a:rPr>
                        <a:t>Encryption and push notification providers work reliably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2873045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02  CONTRACT / AGREEMENT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specifications</a:t>
            </a:r>
            <a:endParaRPr lang="en-US" sz="3200" dirty="0"/>
          </a:p>
        </p:txBody>
      </p:sp>
      <p:graphicFrame>
        <p:nvGraphicFramePr>
          <p:cNvPr id="8" name="Specific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86227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</a:rPr>
                        <a:t>Product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</a:rPr>
                        <a:t>Responsive web application: Time Capsule Letter App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</a:rPr>
                        <a:t>Users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</a:rPr>
                        <a:t>One linked couple: Partner A and Partner B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</a:rPr>
                        <a:t>Core features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</a:rPr>
                        <a:t>Accounts and linking, private letters, unlock timer, mutual decision, notifications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</a:rPr>
                        <a:t>Security and privacy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</a:rPr>
                        <a:t>Letters encrypted at rest, passwords hashed, lock enforced on the server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</a:rPr>
                        <a:t>Duration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</a:rPr>
                        <a:t>12 weeks, five milestones (M1 to M5)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</a:rPr>
                        <a:t>Deliverables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8"/>
                          </a:solidFill>
                        </a:rPr>
                        <a:t>Plan, contract, use cases, BPM, WBS and Gantt chart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ule card 1"/>
          <p:cNvSpPr/>
          <p:nvPr/>
        </p:nvSpPr>
        <p:spPr>
          <a:xfrm>
            <a:off x="548640" y="489204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7" name="Icon circle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con FaLock" descr="Lo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949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08760" y="5074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Sealed until the date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1508760" y="550468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 early opening, no admin override</a:t>
            </a:r>
            <a:endParaRPr lang="en-US" sz="1400" dirty="0"/>
          </a:p>
        </p:txBody>
      </p:sp>
      <p:sp>
        <p:nvSpPr>
          <p:cNvPr id="11" name="Rule card 2"/>
          <p:cNvSpPr/>
          <p:nvPr/>
        </p:nvSpPr>
        <p:spPr>
          <a:xfrm>
            <a:off x="4334256" y="489204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4562856" y="52578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 FaHandshake" descr="Handshak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539496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94376" y="5074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Both must agree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5294376" y="550468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Both click Unlock to read the letters</a:t>
            </a:r>
            <a:endParaRPr lang="en-US" sz="1400" dirty="0"/>
          </a:p>
        </p:txBody>
      </p:sp>
      <p:sp>
        <p:nvSpPr>
          <p:cNvPr id="16" name="Rule card 3"/>
          <p:cNvSpPr/>
          <p:nvPr/>
        </p:nvSpPr>
        <p:spPr>
          <a:xfrm>
            <a:off x="8119872" y="489204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8348472" y="52578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con FaTrashAlt" descr="Trash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539496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079992" y="5074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Otherwise deleted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9079992" y="550468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No or no reply erases them forever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2873045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02  CONTRACT / AGREEMENT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Team roles and responsibilities</a:t>
            </a:r>
            <a:endParaRPr lang="en-US" sz="3200" dirty="0"/>
          </a:p>
        </p:txBody>
      </p:sp>
      <p:sp>
        <p:nvSpPr>
          <p:cNvPr id="5" name="Role card 1"/>
          <p:cNvSpPr/>
          <p:nvPr/>
        </p:nvSpPr>
        <p:spPr>
          <a:xfrm>
            <a:off x="548640" y="1600200"/>
            <a:ext cx="2035454" cy="39319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22960" y="1874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 FaUserTie" descr="UserTi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0802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9808" y="2880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Project Manager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36118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 and schedule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 milestones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Coordinate the team</a:t>
            </a:r>
            <a:endParaRPr lang="en-US" sz="1400" dirty="0"/>
          </a:p>
        </p:txBody>
      </p:sp>
      <p:sp>
        <p:nvSpPr>
          <p:cNvPr id="10" name="Role card 2"/>
          <p:cNvSpPr/>
          <p:nvPr/>
        </p:nvSpPr>
        <p:spPr>
          <a:xfrm>
            <a:off x="2812694" y="1600200"/>
            <a:ext cx="2035454" cy="39319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3087014" y="1874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 FaSearch" descr="Sear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754" y="20802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013862" y="2880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Business Analyst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3013862" y="36118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Gather requirements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cases and specs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Process model (BPM)</a:t>
            </a:r>
            <a:endParaRPr lang="en-US" sz="1400" dirty="0"/>
          </a:p>
        </p:txBody>
      </p:sp>
      <p:sp>
        <p:nvSpPr>
          <p:cNvPr id="15" name="Role card 3"/>
          <p:cNvSpPr/>
          <p:nvPr/>
        </p:nvSpPr>
        <p:spPr>
          <a:xfrm>
            <a:off x="5076749" y="1600200"/>
            <a:ext cx="2035454" cy="39319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5351069" y="187452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 FaDraftingCompass" descr="DraftingCompas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809" y="20802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277917" y="2880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System Designer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5277917" y="36118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 model (ERD)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UI/UX wireframes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Design review</a:t>
            </a:r>
            <a:endParaRPr lang="en-US" sz="1400" dirty="0"/>
          </a:p>
        </p:txBody>
      </p:sp>
      <p:sp>
        <p:nvSpPr>
          <p:cNvPr id="20" name="Role card 4"/>
          <p:cNvSpPr/>
          <p:nvPr/>
        </p:nvSpPr>
        <p:spPr>
          <a:xfrm>
            <a:off x="7340803" y="1600200"/>
            <a:ext cx="2035454" cy="39319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21" name="Icon circle"/>
          <p:cNvSpPr/>
          <p:nvPr/>
        </p:nvSpPr>
        <p:spPr>
          <a:xfrm>
            <a:off x="7615123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 FaCode" descr="Cod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863" y="208026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541971" y="2880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Developer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541971" y="36118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the web app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Timer and lock logic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Encryption, alerts</a:t>
            </a:r>
            <a:endParaRPr lang="en-US" sz="1400" dirty="0"/>
          </a:p>
        </p:txBody>
      </p:sp>
      <p:sp>
        <p:nvSpPr>
          <p:cNvPr id="25" name="Role card 5"/>
          <p:cNvSpPr/>
          <p:nvPr/>
        </p:nvSpPr>
        <p:spPr>
          <a:xfrm>
            <a:off x="9604858" y="1600200"/>
            <a:ext cx="2035454" cy="39319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26" name="Icon circle"/>
          <p:cNvSpPr/>
          <p:nvPr/>
        </p:nvSpPr>
        <p:spPr>
          <a:xfrm>
            <a:off x="9879178" y="187452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Icon FaClipboardCheck" descr="Clipboard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4918" y="208026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806026" y="2880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QA and Documentation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9806026" y="36118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Testing and UAT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Final report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Presentation</a:t>
            </a:r>
            <a:endParaRPr lang="en-US" sz="1400" dirty="0"/>
          </a:p>
        </p:txBody>
      </p:sp>
      <p:sp>
        <p:nvSpPr>
          <p:cNvPr id="30" name="Roles banner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Every member also reviews and tests, so no deliverable is left to one person.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2873045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02  CONTRACT / AGREEMENT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Agreement guidelines</a:t>
            </a:r>
            <a:endParaRPr lang="en-US" sz="3200" dirty="0"/>
          </a:p>
        </p:txBody>
      </p:sp>
      <p:sp>
        <p:nvSpPr>
          <p:cNvPr id="5" name="Guideline row 1"/>
          <p:cNvSpPr/>
          <p:nvPr/>
        </p:nvSpPr>
        <p:spPr>
          <a:xfrm>
            <a:off x="548640" y="1600200"/>
            <a:ext cx="70408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 FaComments" descr="Comment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733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Communicate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2011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Weekly team meeting. Replies in the group chat within 24 hours.</a:t>
            </a:r>
            <a:endParaRPr lang="en-US" sz="1400" dirty="0"/>
          </a:p>
        </p:txBody>
      </p:sp>
      <p:sp>
        <p:nvSpPr>
          <p:cNvPr id="10" name="Guideline row 2"/>
          <p:cNvSpPr/>
          <p:nvPr/>
        </p:nvSpPr>
        <p:spPr>
          <a:xfrm>
            <a:off x="548640" y="2514600"/>
            <a:ext cx="70408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 FaBalanceScale" descr="BalanceSca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25877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Decide together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2926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Majority vote. The project manager breaks ties.</a:t>
            </a:r>
            <a:endParaRPr lang="en-US" sz="1400" dirty="0"/>
          </a:p>
        </p:txBody>
      </p:sp>
      <p:sp>
        <p:nvSpPr>
          <p:cNvPr id="15" name="Guideline row 3"/>
          <p:cNvSpPr/>
          <p:nvPr/>
        </p:nvSpPr>
        <p:spPr>
          <a:xfrm>
            <a:off x="548640" y="3429000"/>
            <a:ext cx="70408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 FaClipboardCheck" descr="Clipboard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35021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Review before submit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" y="3840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deliverable is checked by a second member.</a:t>
            </a:r>
            <a:endParaRPr lang="en-US" sz="1400" dirty="0"/>
          </a:p>
        </p:txBody>
      </p:sp>
      <p:sp>
        <p:nvSpPr>
          <p:cNvPr id="20" name="Guideline row 4"/>
          <p:cNvSpPr/>
          <p:nvPr/>
        </p:nvSpPr>
        <p:spPr>
          <a:xfrm>
            <a:off x="548640" y="4343400"/>
            <a:ext cx="70408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1" name="Icon circle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con FaCalendarAlt" descr="CalendarA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177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08760" y="44165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Deliver on time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1508760" y="4754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Milestone dates are shared. Blockers are raised early.</a:t>
            </a:r>
            <a:endParaRPr lang="en-US" sz="1400" dirty="0"/>
          </a:p>
        </p:txBody>
      </p:sp>
      <p:sp>
        <p:nvSpPr>
          <p:cNvPr id="25" name="Guideline row 5"/>
          <p:cNvSpPr/>
          <p:nvPr/>
        </p:nvSpPr>
        <p:spPr>
          <a:xfrm>
            <a:off x="548640" y="5257800"/>
            <a:ext cx="70408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6" name="Icon circle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con FaExchangeAlt" descr="ExchangeA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3212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508760" y="53309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Control changes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1508760" y="56692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Scope changes need approval from the whole team.</a:t>
            </a:r>
            <a:endParaRPr lang="en-US" sz="1400" dirty="0"/>
          </a:p>
        </p:txBody>
      </p:sp>
      <p:sp>
        <p:nvSpPr>
          <p:cNvPr id="30" name="Source of truth card"/>
          <p:cNvSpPr/>
          <p:nvPr/>
        </p:nvSpPr>
        <p:spPr>
          <a:xfrm>
            <a:off x="7863840" y="1600200"/>
            <a:ext cx="3776472" cy="4480560"/>
          </a:xfrm>
          <a:prstGeom prst="roundRect">
            <a:avLst>
              <a:gd name="adj" fmla="val 2906"/>
            </a:avLst>
          </a:prstGeom>
          <a:solidFill>
            <a:schemeClr val="tx2"/>
          </a:solidFill>
          <a:ln/>
        </p:spPr>
      </p:sp>
      <p:sp>
        <p:nvSpPr>
          <p:cNvPr id="31" name="Icon circle"/>
          <p:cNvSpPr/>
          <p:nvPr/>
        </p:nvSpPr>
        <p:spPr>
          <a:xfrm>
            <a:off x="8183880" y="19202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 FaGithub" descr="Github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2148840"/>
            <a:ext cx="457200" cy="4572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183880" y="3108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source of truth</a:t>
            </a:r>
            <a:endParaRPr lang="en-US" sz="2400" dirty="0"/>
          </a:p>
        </p:txBody>
      </p:sp>
      <p:sp>
        <p:nvSpPr>
          <p:cNvPr id="34" name="Text 25"/>
          <p:cNvSpPr txBox="1"/>
          <p:nvPr/>
        </p:nvSpPr>
        <p:spPr>
          <a:xfrm>
            <a:off x="8183880" y="4023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Every deliverable lives in our GitHub repository.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818388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github.com/qudrathamidov18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2576779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03  USE CASE MODELING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actors, ten use cases</a:t>
            </a:r>
            <a:endParaRPr lang="en-US" sz="3200" dirty="0"/>
          </a:p>
        </p:txBody>
      </p:sp>
      <p:sp>
        <p:nvSpPr>
          <p:cNvPr id="5" name="Diagram frame"/>
          <p:cNvSpPr/>
          <p:nvPr/>
        </p:nvSpPr>
        <p:spPr>
          <a:xfrm>
            <a:off x="475488" y="1527048"/>
            <a:ext cx="6623304" cy="471830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6" name="Use case diagram" descr="Use case diagram with Partner and System Scheduler ac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477000" cy="4572000"/>
          </a:xfrm>
          <a:prstGeom prst="rect">
            <a:avLst/>
          </a:prstGeom>
        </p:spPr>
      </p:pic>
      <p:sp>
        <p:nvSpPr>
          <p:cNvPr id="7" name="Use case summary card"/>
          <p:cNvSpPr/>
          <p:nvPr/>
        </p:nvSpPr>
        <p:spPr>
          <a:xfrm>
            <a:off x="7482840" y="1600200"/>
            <a:ext cx="4157472" cy="4572000"/>
          </a:xfrm>
          <a:prstGeom prst="roundRect">
            <a:avLst>
              <a:gd name="adj" fmla="val 2639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57160" y="1828800"/>
            <a:ext cx="360883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PARTNER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Register / Login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Create Time Capsule (includes Write Letter, Set Unlock Date)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View Capsule Status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Respond to Unlock Prompt (extended by View Unlocked Letters)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SYSTEM SCHEDULER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Lock Capsule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Send Unlock Notification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Delete Capsule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2576779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03  USE CASE MODELING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UC-02: Create Time Capsule</a:t>
            </a:r>
            <a:endParaRPr lang="en-US" sz="3200" dirty="0"/>
          </a:p>
        </p:txBody>
      </p:sp>
      <p:sp>
        <p:nvSpPr>
          <p:cNvPr id="5" name="Spec summary card"/>
          <p:cNvSpPr/>
          <p:nvPr/>
        </p:nvSpPr>
        <p:spPr>
          <a:xfrm>
            <a:off x="548640" y="1600200"/>
            <a:ext cx="3840480" cy="4572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ID AND NAME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UC-02  Create Time Capsule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ACTORS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Partner A and Partner B (linked couple)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INCLUDES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UC-03 Write Letter, UC-04 Set Unlock Date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PRECONDITIONS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Both partners are logged in and linked as a couple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POSTCONDITIONS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Letters are locked; the unlock date can no longer change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6002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Main flow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214884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Each partner writes a private final letter (UC-03).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Partners agree on an unlock date, e.g. 365 days (UC-04).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System warns: “Once sealed, no one can open this early.”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Both partners confirm.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System encrypts and locks the letters (UC-08).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Capsule status changes to Sealed.</a:t>
            </a:r>
            <a:endParaRPr lang="en-US" sz="1600" dirty="0"/>
          </a:p>
        </p:txBody>
      </p:sp>
      <p:sp>
        <p:nvSpPr>
          <p:cNvPr id="9" name="Exceptions card"/>
          <p:cNvSpPr/>
          <p:nvPr/>
        </p:nvSpPr>
        <p:spPr>
          <a:xfrm>
            <a:off x="4663440" y="4937760"/>
            <a:ext cx="6976872" cy="1234440"/>
          </a:xfrm>
          <a:prstGeom prst="roundRect">
            <a:avLst>
              <a:gd name="adj" fmla="val 8889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10" name="Icon circle"/>
          <p:cNvSpPr/>
          <p:nvPr/>
        </p:nvSpPr>
        <p:spPr>
          <a:xfrm>
            <a:off x="4892040" y="53035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con FaExclamationTriangle" descr="ExclamationTriang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7770" y="54292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5029200"/>
            <a:ext cx="5806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Exceptions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letter is unfinished: the capsule stays in Draft.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partner cancels at confirmation: nothing is sealed.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2576779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03  USE CASE MODELING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UC-06: Respond to Unlock Prompt</a:t>
            </a:r>
            <a:endParaRPr lang="en-US" sz="3200" dirty="0"/>
          </a:p>
        </p:txBody>
      </p:sp>
      <p:sp>
        <p:nvSpPr>
          <p:cNvPr id="5" name="Spec summary card"/>
          <p:cNvSpPr/>
          <p:nvPr/>
        </p:nvSpPr>
        <p:spPr>
          <a:xfrm>
            <a:off x="548640" y="1600200"/>
            <a:ext cx="3840480" cy="4572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ID AND NAME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UC-06  Respond to Unlock Prompt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ACTORS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Partner A and Partner B; started by the System Scheduler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EXTENDED BY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UC-07 View Unlocked Letters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PRECONDITIONS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Capsule is Sealed, unlock date reached, both notified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POSTCONDITIONS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Letters revealed to both, or permanently deleted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6002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Main flow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214884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Partner opens the unlock notification (UC-09).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System explains the rule and shows Unlock or Decline.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Partner chooses Unlock and confirms.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System records the decision and waits for the other partner.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When both chose Unlock, the letters are revealed (UC-07).</a:t>
            </a:r>
            <a:endParaRPr lang="en-US" sz="1600" dirty="0"/>
          </a:p>
        </p:txBody>
      </p:sp>
      <p:sp>
        <p:nvSpPr>
          <p:cNvPr id="9" name="Exceptions card"/>
          <p:cNvSpPr/>
          <p:nvPr/>
        </p:nvSpPr>
        <p:spPr>
          <a:xfrm>
            <a:off x="4663440" y="4937760"/>
            <a:ext cx="6976872" cy="1234440"/>
          </a:xfrm>
          <a:prstGeom prst="roundRect">
            <a:avLst>
              <a:gd name="adj" fmla="val 8889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10" name="Icon circle"/>
          <p:cNvSpPr/>
          <p:nvPr/>
        </p:nvSpPr>
        <p:spPr>
          <a:xfrm>
            <a:off x="4892040" y="53035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con FaExclamationTriangle" descr="ExclamationTriang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7770" y="54292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5029200"/>
            <a:ext cx="5806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Exceptions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Either partner declines, or no reply in the response window: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capsule is deleted and both letters are erased forever (UC-10).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2576779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03  USE CASE MODELING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UC-08 to UC-10: the System Scheduler</a:t>
            </a:r>
            <a:endParaRPr lang="en-US" sz="3200" dirty="0"/>
          </a:p>
        </p:txBody>
      </p:sp>
      <p:sp>
        <p:nvSpPr>
          <p:cNvPr id="5" name="Scheduler card 1"/>
          <p:cNvSpPr/>
          <p:nvPr/>
        </p:nvSpPr>
        <p:spPr>
          <a:xfrm>
            <a:off x="548640" y="1600200"/>
            <a:ext cx="3566160" cy="39776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777240" y="1810512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 FaLock" descr="Lo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70532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8105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UC-08  Lock Capsule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517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TRIGGER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Both partners confirm sealing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WHAT THE SYSTEM DOES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Encrypts both letters (Encryption Service)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Stores them, sets status Sealed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Blocks every read until the date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RESULT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early opening, not even for admins</a:t>
            </a:r>
            <a:endParaRPr lang="en-US" sz="1200" dirty="0"/>
          </a:p>
        </p:txBody>
      </p:sp>
      <p:sp>
        <p:nvSpPr>
          <p:cNvPr id="10" name="Scheduler card 2"/>
          <p:cNvSpPr/>
          <p:nvPr/>
        </p:nvSpPr>
        <p:spPr>
          <a:xfrm>
            <a:off x="4311396" y="1600200"/>
            <a:ext cx="3566160" cy="39776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539996" y="181051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 FaBell" descr="Bel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97053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62956" y="18105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UC-09  Send Unlock Notification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85716" y="26517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TRIGGER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unlock date is reached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WHAT THE SYSTEM DOES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Scheduler checks the capsule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Sends in-app and push alerts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Starts the response window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RESULT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Both partners are asked to decide; letters stay closed</a:t>
            </a:r>
            <a:endParaRPr lang="en-US" sz="1200" dirty="0"/>
          </a:p>
        </p:txBody>
      </p:sp>
      <p:sp>
        <p:nvSpPr>
          <p:cNvPr id="15" name="Scheduler card 3"/>
          <p:cNvSpPr/>
          <p:nvPr/>
        </p:nvSpPr>
        <p:spPr>
          <a:xfrm>
            <a:off x="8074152" y="1600200"/>
            <a:ext cx="3566160" cy="39776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302752" y="1810512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con FaTrashAlt" descr="Trash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197053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25712" y="18105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UC-10  Delete Capsule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48472" y="26517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TRIGGER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partner declines, or the window ends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WHAT THE SYSTEM DOES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Erases both letters permanently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Marks the capsule Deleted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Shows a gentle farewell message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RESULT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Nothing can be recovered by anyone</a:t>
            </a:r>
            <a:endParaRPr lang="en-US" sz="1200" dirty="0"/>
          </a:p>
        </p:txBody>
      </p:sp>
      <p:sp>
        <p:nvSpPr>
          <p:cNvPr id="20" name="Automation banner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All three run automatically. No user action, no admin override.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3070555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04  BUSINESS PROCESS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Writing and sealing run in parallel</a:t>
            </a:r>
            <a:endParaRPr lang="en-US" sz="3200" dirty="0"/>
          </a:p>
        </p:txBody>
      </p:sp>
      <p:sp>
        <p:nvSpPr>
          <p:cNvPr id="5" name="Diagram frame"/>
          <p:cNvSpPr/>
          <p:nvPr/>
        </p:nvSpPr>
        <p:spPr>
          <a:xfrm>
            <a:off x="475488" y="1499616"/>
            <a:ext cx="11119104" cy="458875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6" name="BPM part 1" descr="BPMN swimlane model, part 1: write letters, agree a date, create and lock the capsule, wait for the unlock d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10972800" cy="44424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3070555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04  BUSINESS PROCESS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unlock decision decides everything</a:t>
            </a:r>
            <a:endParaRPr lang="en-US" sz="3200" dirty="0"/>
          </a:p>
        </p:txBody>
      </p:sp>
      <p:sp>
        <p:nvSpPr>
          <p:cNvPr id="5" name="Diagram frame"/>
          <p:cNvSpPr/>
          <p:nvPr/>
        </p:nvSpPr>
        <p:spPr>
          <a:xfrm>
            <a:off x="475488" y="1527048"/>
            <a:ext cx="6908515" cy="471830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6" name="BPM part 2" descr="BPMN swimlane model, part 2: notify both partners, collect responses, reveal or delete the let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762211" cy="4572000"/>
          </a:xfrm>
          <a:prstGeom prst="rect">
            <a:avLst/>
          </a:prstGeom>
        </p:spPr>
      </p:pic>
      <p:sp>
        <p:nvSpPr>
          <p:cNvPr id="7" name="BPM rule card 1"/>
          <p:cNvSpPr/>
          <p:nvPr/>
        </p:nvSpPr>
        <p:spPr>
          <a:xfrm>
            <a:off x="7722331" y="1600200"/>
            <a:ext cx="3917981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8" name="Rule dot 1"/>
          <p:cNvSpPr/>
          <p:nvPr/>
        </p:nvSpPr>
        <p:spPr>
          <a:xfrm>
            <a:off x="7905211" y="180136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316691" y="1737360"/>
            <a:ext cx="3186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Timer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905211" y="2286000"/>
            <a:ext cx="35522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Waits until the unlock date</a:t>
            </a:r>
            <a:endParaRPr lang="en-US" sz="1400" dirty="0"/>
          </a:p>
        </p:txBody>
      </p:sp>
      <p:sp>
        <p:nvSpPr>
          <p:cNvPr id="11" name="BPM rule card 2"/>
          <p:cNvSpPr/>
          <p:nvPr/>
        </p:nvSpPr>
        <p:spPr>
          <a:xfrm>
            <a:off x="7722331" y="3200400"/>
            <a:ext cx="3917981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2" name="Rule dot 2"/>
          <p:cNvSpPr/>
          <p:nvPr/>
        </p:nvSpPr>
        <p:spPr>
          <a:xfrm>
            <a:off x="7905211" y="3401568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316691" y="3337560"/>
            <a:ext cx="3186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Both = Yes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905211" y="3886200"/>
            <a:ext cx="35522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Letters unlock and are shown</a:t>
            </a:r>
            <a:endParaRPr lang="en-US" sz="1400" dirty="0"/>
          </a:p>
        </p:txBody>
      </p:sp>
      <p:sp>
        <p:nvSpPr>
          <p:cNvPr id="15" name="BPM rule card 3"/>
          <p:cNvSpPr/>
          <p:nvPr/>
        </p:nvSpPr>
        <p:spPr>
          <a:xfrm>
            <a:off x="7722331" y="4800600"/>
            <a:ext cx="3917981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6" name="Rule dot 3"/>
          <p:cNvSpPr/>
          <p:nvPr/>
        </p:nvSpPr>
        <p:spPr>
          <a:xfrm>
            <a:off x="7905211" y="5001768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316691" y="4937760"/>
            <a:ext cx="3186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Any = No or timeout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905211" y="5486400"/>
            <a:ext cx="35522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Letters are deleted forever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3268066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05  WORK BREAKDOWN STRUCTURE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From one project to 18 work packages</a:t>
            </a:r>
            <a:endParaRPr lang="en-US" sz="3200" dirty="0"/>
          </a:p>
        </p:txBody>
      </p:sp>
      <p:sp>
        <p:nvSpPr>
          <p:cNvPr id="5" name="Diagram frame"/>
          <p:cNvSpPr/>
          <p:nvPr/>
        </p:nvSpPr>
        <p:spPr>
          <a:xfrm>
            <a:off x="475488" y="1527048"/>
            <a:ext cx="8517572" cy="471830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6" name="WBS diagram" descr="Work breakdown structure: five phases with 18 work pack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8371268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377108" y="2103120"/>
            <a:ext cx="22632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9377108" y="2880360"/>
            <a:ext cx="2263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phases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377108" y="3566160"/>
            <a:ext cx="22632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18</a:t>
            </a:r>
            <a:endParaRPr lang="en-US" sz="4800" dirty="0"/>
          </a:p>
        </p:txBody>
      </p:sp>
      <p:sp>
        <p:nvSpPr>
          <p:cNvPr id="10" name="Text 6"/>
          <p:cNvSpPr txBox="1"/>
          <p:nvPr/>
        </p:nvSpPr>
        <p:spPr>
          <a:xfrm>
            <a:off x="9377108" y="4343400"/>
            <a:ext cx="2263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work packages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198424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06  GANTT CHART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12-week plan with five milestones</a:t>
            </a:r>
            <a:endParaRPr lang="en-US" sz="3200" dirty="0"/>
          </a:p>
        </p:txBody>
      </p:sp>
      <p:sp>
        <p:nvSpPr>
          <p:cNvPr id="5" name="Diagram frame"/>
          <p:cNvSpPr/>
          <p:nvPr/>
        </p:nvSpPr>
        <p:spPr>
          <a:xfrm>
            <a:off x="475488" y="1527048"/>
            <a:ext cx="7408863" cy="471830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6" name="Gantt chart" descr="Gantt chart of the 12-week project plan with five milest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62559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68399" y="1645920"/>
            <a:ext cx="33719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8268399" y="2423160"/>
            <a:ext cx="3371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weeks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68399" y="3154680"/>
            <a:ext cx="33719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18</a:t>
            </a:r>
            <a:endParaRPr lang="en-US" sz="4800" dirty="0"/>
          </a:p>
        </p:txBody>
      </p:sp>
      <p:sp>
        <p:nvSpPr>
          <p:cNvPr id="10" name="Text 6"/>
          <p:cNvSpPr txBox="1"/>
          <p:nvPr/>
        </p:nvSpPr>
        <p:spPr>
          <a:xfrm>
            <a:off x="8268399" y="3931920"/>
            <a:ext cx="3371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tasks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68399" y="4663440"/>
            <a:ext cx="33719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8268399" y="5440680"/>
            <a:ext cx="3371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milestones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198424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06  GANTT CHART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Milestones and dependencies</a:t>
            </a:r>
            <a:endParaRPr lang="en-US" sz="3200" dirty="0"/>
          </a:p>
        </p:txBody>
      </p:sp>
      <p:sp>
        <p:nvSpPr>
          <p:cNvPr id="5" name="Milestone card M1"/>
          <p:cNvSpPr/>
          <p:nvPr/>
        </p:nvSpPr>
        <p:spPr>
          <a:xfrm>
            <a:off x="548640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Milestone diamond M1"/>
          <p:cNvSpPr/>
          <p:nvPr/>
        </p:nvSpPr>
        <p:spPr>
          <a:xfrm>
            <a:off x="777240" y="1828800"/>
            <a:ext cx="548640" cy="54864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0876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 3  ·  Fri 23 Oct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Project plan approved</a:t>
            </a:r>
            <a:endParaRPr lang="en-US" sz="1600" dirty="0"/>
          </a:p>
        </p:txBody>
      </p:sp>
      <p:sp>
        <p:nvSpPr>
          <p:cNvPr id="10" name="Milestone card M2"/>
          <p:cNvSpPr/>
          <p:nvPr/>
        </p:nvSpPr>
        <p:spPr>
          <a:xfrm>
            <a:off x="2795778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1" name="Milestone diamond M2"/>
          <p:cNvSpPr/>
          <p:nvPr/>
        </p:nvSpPr>
        <p:spPr>
          <a:xfrm>
            <a:off x="3024378" y="1828800"/>
            <a:ext cx="548640" cy="54864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755898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3024378" y="2514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 5  ·  Fri 6 Nov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024378" y="2880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Design complete</a:t>
            </a:r>
            <a:endParaRPr lang="en-US" sz="1600" dirty="0"/>
          </a:p>
        </p:txBody>
      </p:sp>
      <p:sp>
        <p:nvSpPr>
          <p:cNvPr id="15" name="Milestone card M3"/>
          <p:cNvSpPr/>
          <p:nvPr/>
        </p:nvSpPr>
        <p:spPr>
          <a:xfrm>
            <a:off x="5042916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6" name="Milestone diamond M3"/>
          <p:cNvSpPr/>
          <p:nvPr/>
        </p:nvSpPr>
        <p:spPr>
          <a:xfrm>
            <a:off x="5271516" y="1828800"/>
            <a:ext cx="548640" cy="54864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003036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M3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5271516" y="2514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 9  ·  Fri 4 Dec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271516" y="2880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Working prototype</a:t>
            </a:r>
            <a:endParaRPr lang="en-US" sz="1600" dirty="0"/>
          </a:p>
        </p:txBody>
      </p:sp>
      <p:sp>
        <p:nvSpPr>
          <p:cNvPr id="20" name="Milestone card M4"/>
          <p:cNvSpPr/>
          <p:nvPr/>
        </p:nvSpPr>
        <p:spPr>
          <a:xfrm>
            <a:off x="7290054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1" name="Milestone diamond M4"/>
          <p:cNvSpPr/>
          <p:nvPr/>
        </p:nvSpPr>
        <p:spPr>
          <a:xfrm>
            <a:off x="7518654" y="1828800"/>
            <a:ext cx="548640" cy="54864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50174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M4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7518654" y="2514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 11  ·  Fri 18 Dec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518654" y="2880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Testing complete</a:t>
            </a:r>
            <a:endParaRPr lang="en-US" sz="1600" dirty="0"/>
          </a:p>
        </p:txBody>
      </p:sp>
      <p:sp>
        <p:nvSpPr>
          <p:cNvPr id="25" name="Milestone card M5"/>
          <p:cNvSpPr/>
          <p:nvPr/>
        </p:nvSpPr>
        <p:spPr>
          <a:xfrm>
            <a:off x="9537192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6" name="Milestone diamond M5"/>
          <p:cNvSpPr/>
          <p:nvPr/>
        </p:nvSpPr>
        <p:spPr>
          <a:xfrm>
            <a:off x="9765792" y="1828800"/>
            <a:ext cx="548640" cy="54864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497312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M5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9765792" y="2514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 12  ·  Fri 25 Dec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765792" y="2880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Final presentation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Key dependencies (finish to start)</a:t>
            </a:r>
            <a:endParaRPr lang="en-US" sz="2000" dirty="0"/>
          </a:p>
        </p:txBody>
      </p:sp>
      <p:sp>
        <p:nvSpPr>
          <p:cNvPr id="31" name="Dependency card 1"/>
          <p:cNvSpPr/>
          <p:nvPr/>
        </p:nvSpPr>
        <p:spPr>
          <a:xfrm>
            <a:off x="548640" y="4480560"/>
            <a:ext cx="1920240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85800" y="4526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Requirements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85800" y="5120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WBS 1.3</a:t>
            </a:r>
            <a:endParaRPr lang="en-US" sz="1300" dirty="0"/>
          </a:p>
        </p:txBody>
      </p:sp>
      <p:sp>
        <p:nvSpPr>
          <p:cNvPr id="34" name="Dependency arrow 1"/>
          <p:cNvSpPr/>
          <p:nvPr/>
        </p:nvSpPr>
        <p:spPr>
          <a:xfrm>
            <a:off x="2514600" y="4846320"/>
            <a:ext cx="274320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35" name="Dependency card 2"/>
          <p:cNvSpPr/>
          <p:nvPr/>
        </p:nvSpPr>
        <p:spPr>
          <a:xfrm>
            <a:off x="2834640" y="4480560"/>
            <a:ext cx="1920240" cy="100584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971800" y="4526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Models and design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2971800" y="5120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WBS 2.1 to 2.4</a:t>
            </a:r>
            <a:endParaRPr lang="en-US" sz="1300" dirty="0"/>
          </a:p>
        </p:txBody>
      </p:sp>
      <p:sp>
        <p:nvSpPr>
          <p:cNvPr id="38" name="Dependency arrow 2"/>
          <p:cNvSpPr/>
          <p:nvPr/>
        </p:nvSpPr>
        <p:spPr>
          <a:xfrm>
            <a:off x="4800600" y="4846320"/>
            <a:ext cx="274320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39" name="Dependency card 3"/>
          <p:cNvSpPr/>
          <p:nvPr/>
        </p:nvSpPr>
        <p:spPr>
          <a:xfrm>
            <a:off x="5120640" y="4480560"/>
            <a:ext cx="1920240" cy="100584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257800" y="4526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Build, staggered weekly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257800" y="5120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WBS 3.1 to 3.4</a:t>
            </a:r>
            <a:endParaRPr lang="en-US" sz="1300" dirty="0"/>
          </a:p>
        </p:txBody>
      </p:sp>
      <p:sp>
        <p:nvSpPr>
          <p:cNvPr id="42" name="Dependency arrow 3"/>
          <p:cNvSpPr/>
          <p:nvPr/>
        </p:nvSpPr>
        <p:spPr>
          <a:xfrm>
            <a:off x="7086600" y="4846320"/>
            <a:ext cx="274320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43" name="Dependency card 4"/>
          <p:cNvSpPr/>
          <p:nvPr/>
        </p:nvSpPr>
        <p:spPr>
          <a:xfrm>
            <a:off x="7406640" y="4480560"/>
            <a:ext cx="192024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543800" y="4526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Testing and UAT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543800" y="5120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WBS 4.1 to 4.2</a:t>
            </a:r>
            <a:endParaRPr lang="en-US" sz="1300" dirty="0"/>
          </a:p>
        </p:txBody>
      </p:sp>
      <p:sp>
        <p:nvSpPr>
          <p:cNvPr id="46" name="Dependency arrow 4"/>
          <p:cNvSpPr/>
          <p:nvPr/>
        </p:nvSpPr>
        <p:spPr>
          <a:xfrm>
            <a:off x="9372600" y="4846320"/>
            <a:ext cx="274320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47" name="Dependency card 5"/>
          <p:cNvSpPr/>
          <p:nvPr/>
        </p:nvSpPr>
        <p:spPr>
          <a:xfrm>
            <a:off x="9692640" y="4480560"/>
            <a:ext cx="192024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9829800" y="4526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Deploy and report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9829800" y="5120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WBS 5.1 to 5.3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Critical path: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delay in development moves the final presentation (M5), so testing keeps a buffer.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1786738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PROJECT RISKS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risks and how we handle them</a:t>
            </a:r>
            <a:endParaRPr lang="en-US" sz="3200" dirty="0"/>
          </a:p>
        </p:txBody>
      </p:sp>
      <p:graphicFrame>
        <p:nvGraphicFramePr>
          <p:cNvPr id="20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188720"/>
                <a:gridCol w="58795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</a:rPr>
                        <a:t>A browser-only lock could be bypassed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</a:rPr>
                        <a:t>Enforce the lock on the server; the date cannot change after sealing; no admin override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</a:rPr>
                        <a:t>Letters leak or are read by the wrong person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4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</a:rPr>
                        <a:t>Encrypt letters at rest, hash passwords, keep only the data we need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</a:rPr>
                        <a:t>One partner stops replying after the unlock date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B6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</a:rPr>
                        <a:t>Fixed response window; the deletion rule is explained before sealing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</a:rPr>
                        <a:t>Development falls behind the Gantt chart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B6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</a:rPr>
                        <a:t>Staggered weekly tasks, a testing buffer, weekly progress check against the plan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315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Six deliverables,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ready for review</a:t>
            </a:r>
            <a:endParaRPr lang="en-US" sz="4000" dirty="0"/>
          </a:p>
        </p:txBody>
      </p:sp>
      <p:sp>
        <p:nvSpPr>
          <p:cNvPr id="4" name="Check circle 1"/>
          <p:cNvSpPr/>
          <p:nvPr/>
        </p:nvSpPr>
        <p:spPr>
          <a:xfrm>
            <a:off x="731520" y="23774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heck 1" descr="Check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237744" cy="2377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71600" y="237744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Project plan</a:t>
            </a:r>
            <a:endParaRPr lang="en-US" sz="2000" dirty="0"/>
          </a:p>
        </p:txBody>
      </p:sp>
      <p:sp>
        <p:nvSpPr>
          <p:cNvPr id="7" name="Check circle 2"/>
          <p:cNvSpPr/>
          <p:nvPr/>
        </p:nvSpPr>
        <p:spPr>
          <a:xfrm>
            <a:off x="731520" y="30175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Check 2" descr="Check 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08960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71600" y="301752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Contract and agreement</a:t>
            </a:r>
            <a:endParaRPr lang="en-US" sz="2000" dirty="0"/>
          </a:p>
        </p:txBody>
      </p:sp>
      <p:sp>
        <p:nvSpPr>
          <p:cNvPr id="10" name="Check circle 3"/>
          <p:cNvSpPr/>
          <p:nvPr/>
        </p:nvSpPr>
        <p:spPr>
          <a:xfrm>
            <a:off x="731520" y="36576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heck 3" descr="Check 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49040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71600" y="365760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Use case models and specifications</a:t>
            </a:r>
            <a:endParaRPr lang="en-US" sz="2000" dirty="0"/>
          </a:p>
        </p:txBody>
      </p:sp>
      <p:sp>
        <p:nvSpPr>
          <p:cNvPr id="13" name="Check circle 4"/>
          <p:cNvSpPr/>
          <p:nvPr/>
        </p:nvSpPr>
        <p:spPr>
          <a:xfrm>
            <a:off x="731520" y="42976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Check 4" descr="Check ma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89120"/>
            <a:ext cx="237744" cy="23774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71600" y="429768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Business process model</a:t>
            </a:r>
            <a:endParaRPr lang="en-US" sz="2000" dirty="0"/>
          </a:p>
        </p:txBody>
      </p:sp>
      <p:sp>
        <p:nvSpPr>
          <p:cNvPr id="16" name="Check circle 5"/>
          <p:cNvSpPr/>
          <p:nvPr/>
        </p:nvSpPr>
        <p:spPr>
          <a:xfrm>
            <a:off x="731520" y="49377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Check 5" descr="Check mar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029200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371600" y="493776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Work breakdown structure</a:t>
            </a:r>
            <a:endParaRPr lang="en-US" sz="2000" dirty="0"/>
          </a:p>
        </p:txBody>
      </p:sp>
      <p:sp>
        <p:nvSpPr>
          <p:cNvPr id="19" name="Check circle 6"/>
          <p:cNvSpPr/>
          <p:nvPr/>
        </p:nvSpPr>
        <p:spPr>
          <a:xfrm>
            <a:off x="731520" y="55778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Check 6" descr="Check mar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669280"/>
            <a:ext cx="237744" cy="23774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371600" y="557784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Gantt chart and schedule</a:t>
            </a:r>
            <a:endParaRPr lang="en-US" sz="2000" dirty="0"/>
          </a:p>
        </p:txBody>
      </p:sp>
      <p:sp>
        <p:nvSpPr>
          <p:cNvPr id="22" name="Decor ring outer"/>
          <p:cNvSpPr/>
          <p:nvPr/>
        </p:nvSpPr>
        <p:spPr>
          <a:xfrm>
            <a:off x="8366760" y="822960"/>
            <a:ext cx="3291840" cy="3291840"/>
          </a:xfrm>
          <a:prstGeom prst="ellipse">
            <a:avLst/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3" name="Decor ring middle"/>
          <p:cNvSpPr/>
          <p:nvPr/>
        </p:nvSpPr>
        <p:spPr>
          <a:xfrm>
            <a:off x="8778240" y="1234440"/>
            <a:ext cx="2468880" cy="246888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24" name="Decor circle"/>
          <p:cNvSpPr/>
          <p:nvPr/>
        </p:nvSpPr>
        <p:spPr>
          <a:xfrm>
            <a:off x="9281160" y="1737360"/>
            <a:ext cx="1463040" cy="14630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Open envelope" descr="Open envelop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0" y="2103120"/>
            <a:ext cx="731520" cy="73152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955280" y="44348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27" name="Text 17"/>
          <p:cNvSpPr txBox="1"/>
          <p:nvPr/>
        </p:nvSpPr>
        <p:spPr>
          <a:xfrm>
            <a:off x="7955280" y="5349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github.com/qudrathamidov18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548640" y="292608"/>
            <a:ext cx="2083003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SUPPORTING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Appendix: data model (ERD)</a:t>
            </a:r>
            <a:endParaRPr lang="en-US" sz="3200" dirty="0"/>
          </a:p>
        </p:txBody>
      </p:sp>
      <p:sp>
        <p:nvSpPr>
          <p:cNvPr id="5" name="Diagram frame"/>
          <p:cNvSpPr/>
          <p:nvPr/>
        </p:nvSpPr>
        <p:spPr>
          <a:xfrm>
            <a:off x="475488" y="1527048"/>
            <a:ext cx="7599396" cy="471830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6" name="ERD" descr="Entity relationship diagram with six entit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453092" cy="4572000"/>
          </a:xfrm>
          <a:prstGeom prst="rect">
            <a:avLst/>
          </a:prstGeom>
        </p:spPr>
      </p:pic>
      <p:sp>
        <p:nvSpPr>
          <p:cNvPr id="7" name="ERD summary card"/>
          <p:cNvSpPr/>
          <p:nvPr/>
        </p:nvSpPr>
        <p:spPr>
          <a:xfrm>
            <a:off x="8458932" y="1600200"/>
            <a:ext cx="3181380" cy="4572000"/>
          </a:xfrm>
          <a:prstGeom prst="roundRect">
            <a:avLst>
              <a:gd name="adj" fmla="val 3449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733252" y="1828800"/>
            <a:ext cx="26327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User: account details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Couple: links two users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TimeCapsule: lock and unlock dates, status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Letter: encrypted content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UnlockResponse: each partner's decision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Notification: alerts sent to partners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me Capsule">
  <a:themeElements>
    <a:clrScheme name="Time Capsule">
      <a:dk1>
        <a:srgbClr val="1A2238"/>
      </a:dk1>
      <a:lt1>
        <a:srgbClr val="FFFFFF"/>
      </a:lt1>
      <a:dk2>
        <a:srgbClr val="14213D"/>
      </a:dk2>
      <a:lt2>
        <a:srgbClr val="EEF1F8"/>
      </a:lt2>
      <a:accent1>
        <a:srgbClr val="C9A227"/>
      </a:accent1>
      <a:accent2>
        <a:srgbClr val="0E8088"/>
      </a:accent2>
      <a:accent3>
        <a:srgbClr val="9673A6"/>
      </a:accent3>
      <a:accent4>
        <a:srgbClr val="5E8F45"/>
      </a:accent4>
      <a:accent5>
        <a:srgbClr val="B85450"/>
      </a:accent5>
      <a:accent6>
        <a:srgbClr val="D6B656"/>
      </a:accent6>
      <a:hlink>
        <a:srgbClr val="0E8088"/>
      </a:hlink>
      <a:folHlink>
        <a:srgbClr val="9673A6"/>
      </a:folHlink>
    </a:clrScheme>
    <a:fontScheme name="Time Capsul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Capsule Letter App - Capstone 2 Midterm Team Project</dc:title>
  <dc:subject>Capstone 2: IT Project Management</dc:subject>
  <dc:creator>Capstone 2 Team</dc:creator>
  <cp:lastModifiedBy>Capstone 2 Team</cp:lastModifiedBy>
  <cp:revision>1</cp:revision>
  <dcterms:created xsi:type="dcterms:W3CDTF">2026-10-23T07:33:16Z</dcterms:created>
  <dcterms:modified xsi:type="dcterms:W3CDTF">2026-10-23T07:33:16Z</dcterms:modified>
</cp:coreProperties>
</file>